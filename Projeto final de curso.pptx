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Inter" charset="1" panose="020B0502030000000004"/>
      <p:regular r:id="rId15"/>
    </p:embeddedFont>
    <p:embeddedFont>
      <p:font typeface="HK Grotesk Bold" charset="1" panose="00000800000000000000"/>
      <p:regular r:id="rId16"/>
    </p:embeddedFont>
    <p:embeddedFont>
      <p:font typeface="HK Grotesk" charset="1" panose="00000500000000000000"/>
      <p:regular r:id="rId17"/>
    </p:embeddedFont>
    <p:embeddedFont>
      <p:font typeface="Inter Bold" charset="1" panose="020B08020300000000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57BE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506326" y="9875297"/>
            <a:ext cx="17275348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506326" y="435753"/>
            <a:ext cx="17275348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2205110" y="4508802"/>
            <a:ext cx="5576564" cy="1335208"/>
            <a:chOff x="0" y="0"/>
            <a:chExt cx="1407662" cy="33703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07662" cy="337039"/>
            </a:xfrm>
            <a:custGeom>
              <a:avLst/>
              <a:gdLst/>
              <a:ahLst/>
              <a:cxnLst/>
              <a:rect r="r" b="b" t="t" l="l"/>
              <a:pathLst>
                <a:path h="337039" w="1407662">
                  <a:moveTo>
                    <a:pt x="138830" y="0"/>
                  </a:moveTo>
                  <a:lnTo>
                    <a:pt x="1268833" y="0"/>
                  </a:lnTo>
                  <a:cubicBezTo>
                    <a:pt x="1345506" y="0"/>
                    <a:pt x="1407662" y="62156"/>
                    <a:pt x="1407662" y="138830"/>
                  </a:cubicBezTo>
                  <a:lnTo>
                    <a:pt x="1407662" y="198210"/>
                  </a:lnTo>
                  <a:cubicBezTo>
                    <a:pt x="1407662" y="274883"/>
                    <a:pt x="1345506" y="337039"/>
                    <a:pt x="1268833" y="337039"/>
                  </a:cubicBezTo>
                  <a:lnTo>
                    <a:pt x="138830" y="337039"/>
                  </a:lnTo>
                  <a:cubicBezTo>
                    <a:pt x="62156" y="337039"/>
                    <a:pt x="0" y="274883"/>
                    <a:pt x="0" y="198210"/>
                  </a:cubicBezTo>
                  <a:lnTo>
                    <a:pt x="0" y="138830"/>
                  </a:lnTo>
                  <a:cubicBezTo>
                    <a:pt x="0" y="62156"/>
                    <a:pt x="62156" y="0"/>
                    <a:pt x="13883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19050"/>
              <a:ext cx="1407662" cy="3179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506326" y="8624250"/>
            <a:ext cx="4338815" cy="1215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28"/>
              </a:lnSpc>
            </a:pPr>
            <a:r>
              <a:rPr lang="en-US" sz="1747" spc="-4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DAVI FERREIRA DA SILVA DE OLIVEIRA</a:t>
            </a:r>
          </a:p>
          <a:p>
            <a:pPr algn="just">
              <a:lnSpc>
                <a:spcPts val="2428"/>
              </a:lnSpc>
            </a:pPr>
            <a:r>
              <a:rPr lang="en-US" sz="1747" spc="-4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CAIO MARTINS ZAMPINI</a:t>
            </a:r>
          </a:p>
          <a:p>
            <a:pPr algn="just">
              <a:lnSpc>
                <a:spcPts val="2428"/>
              </a:lnSpc>
            </a:pPr>
            <a:r>
              <a:rPr lang="en-US" sz="1747" spc="-4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RONALD IVAN CASTILLO SARAVIA</a:t>
            </a:r>
          </a:p>
          <a:p>
            <a:pPr algn="just">
              <a:lnSpc>
                <a:spcPts val="2428"/>
              </a:lnSpc>
            </a:pPr>
            <a:r>
              <a:rPr lang="en-US" sz="1747" spc="-4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AUGUSTO DA SILVA PASCHOAL JUNIOR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548668" y="9477441"/>
            <a:ext cx="2233005" cy="232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64"/>
              </a:lnSpc>
            </a:pPr>
            <a:r>
              <a:rPr lang="en-US" sz="1747" spc="-4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DEZEMBRO 2025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36636" y="3701452"/>
            <a:ext cx="8017010" cy="2074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20"/>
              </a:lnSpc>
            </a:pPr>
            <a:r>
              <a:rPr lang="en-US" b="true" sz="8337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PROJETO FINAL DE CURSO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662335" y="4945503"/>
            <a:ext cx="4776414" cy="537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08"/>
              </a:lnSpc>
            </a:pPr>
            <a:r>
              <a:rPr lang="en-US" sz="178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PHYSIOAPP - CONFIANÇA EM CADA MOVIMENTO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506326" y="9875297"/>
            <a:ext cx="17275348" cy="0"/>
          </a:xfrm>
          <a:prstGeom prst="line">
            <a:avLst/>
          </a:prstGeom>
          <a:ln cap="flat" w="19050">
            <a:solidFill>
              <a:srgbClr val="6E7DA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506326" y="435753"/>
            <a:ext cx="17275348" cy="0"/>
          </a:xfrm>
          <a:prstGeom prst="line">
            <a:avLst/>
          </a:prstGeom>
          <a:ln cap="flat" w="19050">
            <a:solidFill>
              <a:srgbClr val="6E7DA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8209193" y="4509180"/>
            <a:ext cx="1811483" cy="601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67"/>
              </a:lnSpc>
            </a:pPr>
            <a:r>
              <a:rPr lang="en-US" sz="1749">
                <a:solidFill>
                  <a:srgbClr val="38A3A5"/>
                </a:solidFill>
                <a:latin typeface="Inter"/>
                <a:ea typeface="Inter"/>
                <a:cs typeface="Inter"/>
                <a:sym typeface="Inter"/>
              </a:rPr>
              <a:t>DESAFIOS NA FISIOTERAPIA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196364" y="5306824"/>
            <a:ext cx="2250154" cy="600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67"/>
              </a:lnSpc>
            </a:pPr>
            <a:r>
              <a:rPr lang="en-US" sz="1749">
                <a:solidFill>
                  <a:srgbClr val="38A3A5"/>
                </a:solidFill>
                <a:latin typeface="Inter"/>
                <a:ea typeface="Inter"/>
                <a:cs typeface="Inter"/>
                <a:sym typeface="Inter"/>
              </a:rPr>
              <a:t>SOLUÇÃO PROPOSTA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380976" y="5262306"/>
            <a:ext cx="2429181" cy="601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67"/>
              </a:lnSpc>
            </a:pPr>
            <a:r>
              <a:rPr lang="en-US" sz="1749">
                <a:solidFill>
                  <a:srgbClr val="38A3A5"/>
                </a:solidFill>
                <a:latin typeface="Inter"/>
                <a:ea typeface="Inter"/>
                <a:cs typeface="Inter"/>
                <a:sym typeface="Inter"/>
              </a:rPr>
              <a:t>METOLOGIA DE DESENVOLVIMENTO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373874" y="6022115"/>
            <a:ext cx="2280673" cy="601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67"/>
              </a:lnSpc>
            </a:pPr>
            <a:r>
              <a:rPr lang="en-US" sz="1749">
                <a:solidFill>
                  <a:srgbClr val="38A3A5"/>
                </a:solidFill>
                <a:latin typeface="Inter"/>
                <a:ea typeface="Inter"/>
                <a:cs typeface="Inter"/>
                <a:sym typeface="Inter"/>
              </a:rPr>
              <a:t>CONCLUSÃO E PRÓXIMOS PASSOS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209193" y="6022115"/>
            <a:ext cx="2237325" cy="601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67"/>
              </a:lnSpc>
            </a:pPr>
            <a:r>
              <a:rPr lang="en-US" sz="1749">
                <a:solidFill>
                  <a:srgbClr val="38A3A5"/>
                </a:solidFill>
                <a:latin typeface="Inter"/>
                <a:ea typeface="Inter"/>
                <a:cs typeface="Inter"/>
                <a:sym typeface="Inter"/>
              </a:rPr>
              <a:t>FUNCIONALIDADES ESSENCIAIS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380976" y="4468655"/>
            <a:ext cx="2422078" cy="601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67"/>
              </a:lnSpc>
            </a:pPr>
            <a:r>
              <a:rPr lang="en-US" sz="1749">
                <a:solidFill>
                  <a:srgbClr val="38A3A5"/>
                </a:solidFill>
                <a:latin typeface="Inter"/>
                <a:ea typeface="Inter"/>
                <a:cs typeface="Inter"/>
                <a:sym typeface="Inter"/>
              </a:rPr>
              <a:t>ARQUITETURA TECNOLÓGICA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033737" y="4622369"/>
            <a:ext cx="1023056" cy="508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799"/>
              </a:lnSpc>
            </a:pPr>
            <a:r>
              <a:rPr lang="en-US" b="true" sz="3999">
                <a:solidFill>
                  <a:srgbClr val="38A3A5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01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033737" y="5355334"/>
            <a:ext cx="1023056" cy="508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799"/>
              </a:lnSpc>
            </a:pPr>
            <a:r>
              <a:rPr lang="en-US" b="true" sz="3999">
                <a:solidFill>
                  <a:srgbClr val="38A3A5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02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182495" y="4581844"/>
            <a:ext cx="1023056" cy="508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799"/>
              </a:lnSpc>
            </a:pPr>
            <a:r>
              <a:rPr lang="en-US" b="true" sz="3999">
                <a:solidFill>
                  <a:srgbClr val="38A3A5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04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182495" y="5355334"/>
            <a:ext cx="1023056" cy="508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799"/>
              </a:lnSpc>
            </a:pPr>
            <a:r>
              <a:rPr lang="en-US" b="true" sz="3999">
                <a:solidFill>
                  <a:srgbClr val="38A3A5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05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033737" y="6091934"/>
            <a:ext cx="1023056" cy="508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799"/>
              </a:lnSpc>
            </a:pPr>
            <a:r>
              <a:rPr lang="en-US" b="true" sz="3999">
                <a:solidFill>
                  <a:srgbClr val="38A3A5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03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170418" y="6091934"/>
            <a:ext cx="1023056" cy="508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799"/>
              </a:lnSpc>
            </a:pPr>
            <a:r>
              <a:rPr lang="en-US" b="true" sz="3999">
                <a:solidFill>
                  <a:srgbClr val="38A3A5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06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730721" y="4788219"/>
            <a:ext cx="5576564" cy="1335241"/>
            <a:chOff x="0" y="0"/>
            <a:chExt cx="7435419" cy="1780321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7435419" cy="1780321"/>
              <a:chOff x="0" y="0"/>
              <a:chExt cx="1407662" cy="337048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407662" cy="337048"/>
              </a:xfrm>
              <a:custGeom>
                <a:avLst/>
                <a:gdLst/>
                <a:ahLst/>
                <a:cxnLst/>
                <a:rect r="r" b="b" t="t" l="l"/>
                <a:pathLst>
                  <a:path h="337048" w="1407662">
                    <a:moveTo>
                      <a:pt x="138830" y="0"/>
                    </a:moveTo>
                    <a:lnTo>
                      <a:pt x="1268833" y="0"/>
                    </a:lnTo>
                    <a:cubicBezTo>
                      <a:pt x="1345506" y="0"/>
                      <a:pt x="1407662" y="62156"/>
                      <a:pt x="1407662" y="138830"/>
                    </a:cubicBezTo>
                    <a:lnTo>
                      <a:pt x="1407662" y="198218"/>
                    </a:lnTo>
                    <a:cubicBezTo>
                      <a:pt x="1407662" y="274892"/>
                      <a:pt x="1345506" y="337048"/>
                      <a:pt x="1268833" y="337048"/>
                    </a:cubicBezTo>
                    <a:lnTo>
                      <a:pt x="138830" y="337048"/>
                    </a:lnTo>
                    <a:cubicBezTo>
                      <a:pt x="102010" y="337048"/>
                      <a:pt x="66698" y="322421"/>
                      <a:pt x="40662" y="296385"/>
                    </a:cubicBezTo>
                    <a:cubicBezTo>
                      <a:pt x="14627" y="270350"/>
                      <a:pt x="0" y="235038"/>
                      <a:pt x="0" y="198218"/>
                    </a:cubicBezTo>
                    <a:lnTo>
                      <a:pt x="0" y="138830"/>
                    </a:lnTo>
                    <a:cubicBezTo>
                      <a:pt x="0" y="62156"/>
                      <a:pt x="62156" y="0"/>
                      <a:pt x="13883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rnd">
                <a:solidFill>
                  <a:srgbClr val="6E7DA2"/>
                </a:solidFill>
                <a:prstDash val="solid"/>
                <a:round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19050"/>
                <a:ext cx="1407662" cy="31799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80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696498" y="444846"/>
              <a:ext cx="6556535" cy="10239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451"/>
                </a:lnSpc>
              </a:pPr>
              <a:r>
                <a:rPr lang="en-US" b="true" sz="5738">
                  <a:solidFill>
                    <a:srgbClr val="6E7DA2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VISÃO GERAL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57BE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506326" y="9875297"/>
            <a:ext cx="17275348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506326" y="435753"/>
            <a:ext cx="17275348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282157" y="4352227"/>
            <a:ext cx="5824675" cy="2041368"/>
            <a:chOff x="0" y="0"/>
            <a:chExt cx="1470291" cy="51529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70291" cy="515292"/>
            </a:xfrm>
            <a:custGeom>
              <a:avLst/>
              <a:gdLst/>
              <a:ahLst/>
              <a:cxnLst/>
              <a:rect r="r" b="b" t="t" l="l"/>
              <a:pathLst>
                <a:path h="515292" w="1470291">
                  <a:moveTo>
                    <a:pt x="132916" y="0"/>
                  </a:moveTo>
                  <a:lnTo>
                    <a:pt x="1337375" y="0"/>
                  </a:lnTo>
                  <a:cubicBezTo>
                    <a:pt x="1410783" y="0"/>
                    <a:pt x="1470291" y="59508"/>
                    <a:pt x="1470291" y="132916"/>
                  </a:cubicBezTo>
                  <a:lnTo>
                    <a:pt x="1470291" y="382376"/>
                  </a:lnTo>
                  <a:cubicBezTo>
                    <a:pt x="1470291" y="455783"/>
                    <a:pt x="1410783" y="515292"/>
                    <a:pt x="1337375" y="515292"/>
                  </a:cubicBezTo>
                  <a:lnTo>
                    <a:pt x="132916" y="515292"/>
                  </a:lnTo>
                  <a:cubicBezTo>
                    <a:pt x="59508" y="515292"/>
                    <a:pt x="0" y="455783"/>
                    <a:pt x="0" y="382376"/>
                  </a:cubicBezTo>
                  <a:lnTo>
                    <a:pt x="0" y="132916"/>
                  </a:lnTo>
                  <a:cubicBezTo>
                    <a:pt x="0" y="59508"/>
                    <a:pt x="59508" y="0"/>
                    <a:pt x="13291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19050"/>
              <a:ext cx="1470291" cy="4962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762537" y="4729363"/>
            <a:ext cx="4863914" cy="1420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451"/>
              </a:lnSpc>
            </a:pPr>
            <a:r>
              <a:rPr lang="en-US" b="true" sz="5738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DESAFIOS NA FISIOTERAPIA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226628" y="9243508"/>
            <a:ext cx="555046" cy="466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582"/>
              </a:lnSpc>
            </a:pPr>
            <a:r>
              <a:rPr lang="en-US" sz="3547" spc="-8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04762" y="3986429"/>
            <a:ext cx="9131306" cy="3548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36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Limitação Física</a:t>
            </a:r>
          </a:p>
          <a:p>
            <a:pPr algn="l">
              <a:lnSpc>
                <a:spcPts val="2360"/>
              </a:lnSpc>
            </a:pPr>
          </a:p>
          <a:p>
            <a:pPr algn="l">
              <a:lnSpc>
                <a:spcPts val="2360"/>
              </a:lnSpc>
            </a:pPr>
            <a:r>
              <a:rPr lang="en-US" sz="2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Dificuldade de acompanhar o desenvolvimento do paciente em exercícios caseiros.</a:t>
            </a:r>
          </a:p>
          <a:p>
            <a:pPr algn="l">
              <a:lnSpc>
                <a:spcPts val="2360"/>
              </a:lnSpc>
            </a:pPr>
          </a:p>
          <a:p>
            <a:pPr algn="l" marL="431801" indent="-215900" lvl="1">
              <a:lnSpc>
                <a:spcPts val="236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Sobrecarga Manual</a:t>
            </a:r>
          </a:p>
          <a:p>
            <a:pPr algn="l">
              <a:lnSpc>
                <a:spcPts val="2360"/>
              </a:lnSpc>
            </a:pPr>
          </a:p>
          <a:p>
            <a:pPr algn="l">
              <a:lnSpc>
                <a:spcPts val="2360"/>
              </a:lnSpc>
            </a:pPr>
            <a:r>
              <a:rPr lang="en-US" sz="2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Alto volume de documentação a se preencher e gerir do paciente.</a:t>
            </a:r>
          </a:p>
          <a:p>
            <a:pPr algn="l">
              <a:lnSpc>
                <a:spcPts val="2360"/>
              </a:lnSpc>
            </a:pPr>
          </a:p>
          <a:p>
            <a:pPr algn="l" marL="431801" indent="-215900" lvl="1">
              <a:lnSpc>
                <a:spcPts val="236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Oportunidade de Mercado</a:t>
            </a:r>
          </a:p>
          <a:p>
            <a:pPr algn="l">
              <a:lnSpc>
                <a:spcPts val="2360"/>
              </a:lnSpc>
            </a:pPr>
          </a:p>
          <a:p>
            <a:pPr algn="l">
              <a:lnSpc>
                <a:spcPts val="2360"/>
              </a:lnSpc>
            </a:pPr>
            <a:r>
              <a:rPr lang="en-US" sz="2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Pouca variedade de softwares brasileiros atuando na área.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506326" y="9875297"/>
            <a:ext cx="17275348" cy="0"/>
          </a:xfrm>
          <a:prstGeom prst="line">
            <a:avLst/>
          </a:prstGeom>
          <a:ln cap="flat" w="19050">
            <a:solidFill>
              <a:srgbClr val="6E7DA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506326" y="435753"/>
            <a:ext cx="17275348" cy="0"/>
          </a:xfrm>
          <a:prstGeom prst="line">
            <a:avLst/>
          </a:prstGeom>
          <a:ln cap="flat" w="19050">
            <a:solidFill>
              <a:srgbClr val="6E7DA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7226628" y="9243508"/>
            <a:ext cx="555046" cy="466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582"/>
              </a:lnSpc>
            </a:pPr>
            <a:r>
              <a:rPr lang="en-US" sz="3547" spc="-88">
                <a:solidFill>
                  <a:srgbClr val="6E7DA2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804762" y="4265439"/>
            <a:ext cx="9131306" cy="595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60"/>
              </a:lnSpc>
            </a:pPr>
            <a:r>
              <a:rPr lang="en-US" sz="2000">
                <a:solidFill>
                  <a:srgbClr val="6E7DA2"/>
                </a:solidFill>
                <a:latin typeface="Inter"/>
                <a:ea typeface="Inter"/>
                <a:cs typeface="Inter"/>
                <a:sym typeface="Inter"/>
              </a:rPr>
              <a:t>Uma plataforma</a:t>
            </a:r>
            <a:r>
              <a:rPr lang="en-US" sz="2000" u="none">
                <a:solidFill>
                  <a:srgbClr val="6E7DA2"/>
                </a:solidFill>
                <a:latin typeface="Inter"/>
                <a:ea typeface="Inter"/>
                <a:cs typeface="Inter"/>
                <a:sym typeface="Inter"/>
              </a:rPr>
              <a:t> cross-platform que conecta fisioterapeuta e paciente através de gestão inteligente e engajamento contínuo.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804762" y="5282071"/>
            <a:ext cx="9131306" cy="3101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60"/>
              </a:lnSpc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🎯</a:t>
            </a: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>
                <a:solidFill>
                  <a:srgbClr val="6E7DA2"/>
                </a:solidFill>
                <a:latin typeface="Inter"/>
                <a:ea typeface="Inter"/>
                <a:cs typeface="Inter"/>
                <a:sym typeface="Inter"/>
              </a:rPr>
              <a:t>Objet</a:t>
            </a:r>
            <a:r>
              <a:rPr lang="en-US" sz="2000" u="none">
                <a:solidFill>
                  <a:srgbClr val="6E7DA2"/>
                </a:solidFill>
                <a:latin typeface="Inter"/>
                <a:ea typeface="Inter"/>
                <a:cs typeface="Inter"/>
                <a:sym typeface="Inter"/>
              </a:rPr>
              <a:t>ivo Geral</a:t>
            </a:r>
          </a:p>
          <a:p>
            <a:pPr algn="l" marL="0" indent="0" lvl="0">
              <a:lnSpc>
                <a:spcPts val="2360"/>
              </a:lnSpc>
            </a:pPr>
          </a:p>
          <a:p>
            <a:pPr algn="l" marL="0" indent="0" lvl="0">
              <a:lnSpc>
                <a:spcPts val="2360"/>
              </a:lnSpc>
            </a:pPr>
            <a:r>
              <a:rPr lang="en-US" sz="2000" u="none">
                <a:solidFill>
                  <a:srgbClr val="6E7DA2"/>
                </a:solidFill>
                <a:latin typeface="Inter"/>
                <a:ea typeface="Inter"/>
                <a:cs typeface="Inter"/>
                <a:sym typeface="Inter"/>
              </a:rPr>
              <a:t>Otimizar a gestão clínica e aumentar adesão ao tratamento com recursos interativos e acompanhamento remoto.​</a:t>
            </a:r>
          </a:p>
          <a:p>
            <a:pPr algn="l" marL="0" indent="0" lvl="0">
              <a:lnSpc>
                <a:spcPts val="2360"/>
              </a:lnSpc>
            </a:pPr>
          </a:p>
          <a:p>
            <a:pPr algn="l" marL="0" indent="0" lvl="0">
              <a:lnSpc>
                <a:spcPts val="2360"/>
              </a:lnSpc>
            </a:pPr>
            <a:r>
              <a:rPr lang="en-US" sz="2000" u="none">
                <a:solidFill>
                  <a:srgbClr val="6E7DA2"/>
                </a:solidFill>
                <a:latin typeface="Inter"/>
                <a:ea typeface="Inter"/>
                <a:cs typeface="Inter"/>
                <a:sym typeface="Inter"/>
              </a:rPr>
              <a:t>✓ Três Objetivos Específicos</a:t>
            </a:r>
          </a:p>
          <a:p>
            <a:pPr algn="l" marL="0" indent="0" lvl="0">
              <a:lnSpc>
                <a:spcPts val="2360"/>
              </a:lnSpc>
            </a:pP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 u="none">
                <a:solidFill>
                  <a:srgbClr val="6E7DA2"/>
                </a:solidFill>
                <a:latin typeface="Inter"/>
                <a:ea typeface="Inter"/>
                <a:cs typeface="Inter"/>
                <a:sym typeface="Inter"/>
              </a:rPr>
              <a:t>Ferramenta de gestão para o fisioterapeuta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 u="none">
                <a:solidFill>
                  <a:srgbClr val="6E7DA2"/>
                </a:solidFill>
                <a:latin typeface="Inter"/>
                <a:ea typeface="Inter"/>
                <a:cs typeface="Inter"/>
                <a:sym typeface="Inter"/>
              </a:rPr>
              <a:t>Módulo interativo para o paciente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 u="none">
                <a:solidFill>
                  <a:srgbClr val="6E7DA2"/>
                </a:solidFill>
                <a:latin typeface="Inter"/>
                <a:ea typeface="Inter"/>
                <a:cs typeface="Inter"/>
                <a:sym typeface="Inter"/>
              </a:rPr>
              <a:t>Tornar o ciclo de vida da recuperação mais fácil.</a:t>
            </a:r>
            <a:r>
              <a:rPr lang="en-US" sz="2000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​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282157" y="4352227"/>
            <a:ext cx="4969374" cy="2003197"/>
            <a:chOff x="0" y="0"/>
            <a:chExt cx="1254392" cy="50565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54392" cy="505656"/>
            </a:xfrm>
            <a:custGeom>
              <a:avLst/>
              <a:gdLst/>
              <a:ahLst/>
              <a:cxnLst/>
              <a:rect r="r" b="b" t="t" l="l"/>
              <a:pathLst>
                <a:path h="505656" w="1254392">
                  <a:moveTo>
                    <a:pt x="155793" y="0"/>
                  </a:moveTo>
                  <a:lnTo>
                    <a:pt x="1098600" y="0"/>
                  </a:lnTo>
                  <a:cubicBezTo>
                    <a:pt x="1184641" y="0"/>
                    <a:pt x="1254392" y="69751"/>
                    <a:pt x="1254392" y="155793"/>
                  </a:cubicBezTo>
                  <a:lnTo>
                    <a:pt x="1254392" y="349864"/>
                  </a:lnTo>
                  <a:cubicBezTo>
                    <a:pt x="1254392" y="391182"/>
                    <a:pt x="1237978" y="430809"/>
                    <a:pt x="1208762" y="460026"/>
                  </a:cubicBezTo>
                  <a:cubicBezTo>
                    <a:pt x="1179545" y="489242"/>
                    <a:pt x="1139918" y="505656"/>
                    <a:pt x="1098600" y="505656"/>
                  </a:cubicBezTo>
                  <a:lnTo>
                    <a:pt x="155793" y="505656"/>
                  </a:lnTo>
                  <a:cubicBezTo>
                    <a:pt x="69751" y="505656"/>
                    <a:pt x="0" y="435906"/>
                    <a:pt x="0" y="349864"/>
                  </a:cubicBezTo>
                  <a:lnTo>
                    <a:pt x="0" y="155793"/>
                  </a:lnTo>
                  <a:cubicBezTo>
                    <a:pt x="0" y="69751"/>
                    <a:pt x="69751" y="0"/>
                    <a:pt x="15579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6E7DA2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19050"/>
              <a:ext cx="1254392" cy="4866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907277" y="4710278"/>
            <a:ext cx="3719134" cy="1420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451"/>
              </a:lnSpc>
            </a:pPr>
            <a:r>
              <a:rPr lang="en-US" b="true" sz="5738">
                <a:solidFill>
                  <a:srgbClr val="6E7DA2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SOLUÇÃO PROPOSTA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57BE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506326" y="9875297"/>
            <a:ext cx="17275348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506326" y="435753"/>
            <a:ext cx="17275348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301242" y="1028700"/>
            <a:ext cx="7536126" cy="1910128"/>
            <a:chOff x="0" y="0"/>
            <a:chExt cx="1902304" cy="48216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02304" cy="482163"/>
            </a:xfrm>
            <a:custGeom>
              <a:avLst/>
              <a:gdLst/>
              <a:ahLst/>
              <a:cxnLst/>
              <a:rect r="r" b="b" t="t" l="l"/>
              <a:pathLst>
                <a:path h="482163" w="1902304">
                  <a:moveTo>
                    <a:pt x="102731" y="0"/>
                  </a:moveTo>
                  <a:lnTo>
                    <a:pt x="1799573" y="0"/>
                  </a:lnTo>
                  <a:cubicBezTo>
                    <a:pt x="1826819" y="0"/>
                    <a:pt x="1852949" y="10823"/>
                    <a:pt x="1872215" y="30089"/>
                  </a:cubicBezTo>
                  <a:cubicBezTo>
                    <a:pt x="1891480" y="49355"/>
                    <a:pt x="1902304" y="75485"/>
                    <a:pt x="1902304" y="102731"/>
                  </a:cubicBezTo>
                  <a:lnTo>
                    <a:pt x="1902304" y="379433"/>
                  </a:lnTo>
                  <a:cubicBezTo>
                    <a:pt x="1902304" y="406678"/>
                    <a:pt x="1891480" y="432808"/>
                    <a:pt x="1872215" y="452074"/>
                  </a:cubicBezTo>
                  <a:cubicBezTo>
                    <a:pt x="1852949" y="471340"/>
                    <a:pt x="1826819" y="482163"/>
                    <a:pt x="1799573" y="482163"/>
                  </a:cubicBezTo>
                  <a:lnTo>
                    <a:pt x="102731" y="482163"/>
                  </a:lnTo>
                  <a:cubicBezTo>
                    <a:pt x="75485" y="482163"/>
                    <a:pt x="49355" y="471340"/>
                    <a:pt x="30089" y="452074"/>
                  </a:cubicBezTo>
                  <a:cubicBezTo>
                    <a:pt x="10823" y="432808"/>
                    <a:pt x="0" y="406678"/>
                    <a:pt x="0" y="379433"/>
                  </a:cubicBezTo>
                  <a:lnTo>
                    <a:pt x="0" y="102731"/>
                  </a:lnTo>
                  <a:cubicBezTo>
                    <a:pt x="0" y="75485"/>
                    <a:pt x="10823" y="49355"/>
                    <a:pt x="30089" y="30089"/>
                  </a:cubicBezTo>
                  <a:cubicBezTo>
                    <a:pt x="49355" y="10823"/>
                    <a:pt x="75485" y="0"/>
                    <a:pt x="10273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19050"/>
              <a:ext cx="1902304" cy="4631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837368" y="4393446"/>
            <a:ext cx="2323761" cy="2323761"/>
            <a:chOff x="0" y="0"/>
            <a:chExt cx="558800" cy="558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58800" cy="558800"/>
            </a:xfrm>
            <a:custGeom>
              <a:avLst/>
              <a:gdLst/>
              <a:ahLst/>
              <a:cxnLst/>
              <a:rect r="r" b="b" t="t" l="l"/>
              <a:pathLst>
                <a:path h="558800" w="558800">
                  <a:moveTo>
                    <a:pt x="0" y="558800"/>
                  </a:moveTo>
                  <a:cubicBezTo>
                    <a:pt x="0" y="411634"/>
                    <a:pt x="59606" y="267731"/>
                    <a:pt x="163669" y="163669"/>
                  </a:cubicBezTo>
                  <a:cubicBezTo>
                    <a:pt x="267731" y="59606"/>
                    <a:pt x="411634" y="0"/>
                    <a:pt x="558800" y="0"/>
                  </a:cubicBezTo>
                  <a:lnTo>
                    <a:pt x="558800" y="285081"/>
                  </a:lnTo>
                  <a:cubicBezTo>
                    <a:pt x="486712" y="285081"/>
                    <a:pt x="416225" y="314278"/>
                    <a:pt x="365251" y="365251"/>
                  </a:cubicBezTo>
                  <a:cubicBezTo>
                    <a:pt x="314278" y="416225"/>
                    <a:pt x="285081" y="486712"/>
                    <a:pt x="285081" y="558800"/>
                  </a:cubicBezTo>
                  <a:lnTo>
                    <a:pt x="0" y="558800"/>
                  </a:lnTo>
                  <a:close/>
                </a:path>
              </a:pathLst>
            </a:custGeom>
            <a:solidFill>
              <a:srgbClr val="F5F5F2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127000" y="155575"/>
              <a:ext cx="304800" cy="276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64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-10800000">
            <a:off x="11326215" y="6853072"/>
            <a:ext cx="2323761" cy="2323761"/>
            <a:chOff x="0" y="0"/>
            <a:chExt cx="558800" cy="558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58800" cy="558800"/>
            </a:xfrm>
            <a:custGeom>
              <a:avLst/>
              <a:gdLst/>
              <a:ahLst/>
              <a:cxnLst/>
              <a:rect r="r" b="b" t="t" l="l"/>
              <a:pathLst>
                <a:path h="558800" w="558800">
                  <a:moveTo>
                    <a:pt x="0" y="558800"/>
                  </a:moveTo>
                  <a:cubicBezTo>
                    <a:pt x="0" y="411634"/>
                    <a:pt x="59606" y="267731"/>
                    <a:pt x="163669" y="163669"/>
                  </a:cubicBezTo>
                  <a:cubicBezTo>
                    <a:pt x="267731" y="59606"/>
                    <a:pt x="411634" y="0"/>
                    <a:pt x="558800" y="0"/>
                  </a:cubicBezTo>
                  <a:lnTo>
                    <a:pt x="558800" y="285081"/>
                  </a:lnTo>
                  <a:cubicBezTo>
                    <a:pt x="486712" y="285081"/>
                    <a:pt x="416225" y="314278"/>
                    <a:pt x="365251" y="365251"/>
                  </a:cubicBezTo>
                  <a:cubicBezTo>
                    <a:pt x="314278" y="416225"/>
                    <a:pt x="285081" y="486712"/>
                    <a:pt x="285081" y="558800"/>
                  </a:cubicBezTo>
                  <a:lnTo>
                    <a:pt x="0" y="558800"/>
                  </a:lnTo>
                  <a:close/>
                </a:path>
              </a:pathLst>
            </a:custGeom>
            <a:solidFill>
              <a:srgbClr val="F5F5F2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127000" y="155575"/>
              <a:ext cx="304800" cy="276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64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5400000">
            <a:off x="11326215" y="4393446"/>
            <a:ext cx="2323761" cy="2323761"/>
            <a:chOff x="0" y="0"/>
            <a:chExt cx="558800" cy="558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58800" cy="558800"/>
            </a:xfrm>
            <a:custGeom>
              <a:avLst/>
              <a:gdLst/>
              <a:ahLst/>
              <a:cxnLst/>
              <a:rect r="r" b="b" t="t" l="l"/>
              <a:pathLst>
                <a:path h="558800" w="558800">
                  <a:moveTo>
                    <a:pt x="0" y="558800"/>
                  </a:moveTo>
                  <a:cubicBezTo>
                    <a:pt x="0" y="411634"/>
                    <a:pt x="59606" y="267731"/>
                    <a:pt x="163669" y="163669"/>
                  </a:cubicBezTo>
                  <a:cubicBezTo>
                    <a:pt x="267731" y="59606"/>
                    <a:pt x="411634" y="0"/>
                    <a:pt x="558800" y="0"/>
                  </a:cubicBezTo>
                  <a:lnTo>
                    <a:pt x="558800" y="285081"/>
                  </a:lnTo>
                  <a:cubicBezTo>
                    <a:pt x="486712" y="285081"/>
                    <a:pt x="416225" y="314278"/>
                    <a:pt x="365251" y="365251"/>
                  </a:cubicBezTo>
                  <a:cubicBezTo>
                    <a:pt x="314278" y="416225"/>
                    <a:pt x="285081" y="486712"/>
                    <a:pt x="285081" y="558800"/>
                  </a:cubicBezTo>
                  <a:lnTo>
                    <a:pt x="0" y="558800"/>
                  </a:lnTo>
                  <a:close/>
                </a:path>
              </a:pathLst>
            </a:custGeom>
            <a:solidFill>
              <a:srgbClr val="F5F5F2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127000" y="155575"/>
              <a:ext cx="304800" cy="276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64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-5400000">
            <a:off x="8837368" y="6853072"/>
            <a:ext cx="2323761" cy="2323761"/>
            <a:chOff x="0" y="0"/>
            <a:chExt cx="558800" cy="558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58800" cy="558800"/>
            </a:xfrm>
            <a:custGeom>
              <a:avLst/>
              <a:gdLst/>
              <a:ahLst/>
              <a:cxnLst/>
              <a:rect r="r" b="b" t="t" l="l"/>
              <a:pathLst>
                <a:path h="558800" w="558800">
                  <a:moveTo>
                    <a:pt x="0" y="558800"/>
                  </a:moveTo>
                  <a:cubicBezTo>
                    <a:pt x="0" y="411634"/>
                    <a:pt x="59606" y="267731"/>
                    <a:pt x="163669" y="163669"/>
                  </a:cubicBezTo>
                  <a:cubicBezTo>
                    <a:pt x="267731" y="59606"/>
                    <a:pt x="411634" y="0"/>
                    <a:pt x="558800" y="0"/>
                  </a:cubicBezTo>
                  <a:lnTo>
                    <a:pt x="558800" y="285081"/>
                  </a:lnTo>
                  <a:cubicBezTo>
                    <a:pt x="486712" y="285081"/>
                    <a:pt x="416225" y="314278"/>
                    <a:pt x="365251" y="365251"/>
                  </a:cubicBezTo>
                  <a:cubicBezTo>
                    <a:pt x="314278" y="416225"/>
                    <a:pt x="285081" y="486712"/>
                    <a:pt x="285081" y="558800"/>
                  </a:cubicBezTo>
                  <a:lnTo>
                    <a:pt x="0" y="558800"/>
                  </a:lnTo>
                  <a:close/>
                </a:path>
              </a:pathLst>
            </a:custGeom>
            <a:solidFill>
              <a:srgbClr val="F5F5F2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127000" y="155575"/>
              <a:ext cx="304800" cy="276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64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761145" y="1340216"/>
            <a:ext cx="6857148" cy="1420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451"/>
              </a:lnSpc>
            </a:pPr>
            <a:r>
              <a:rPr lang="en-US" b="true" sz="5738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FUNCIONALIDADES ESSENCIAIS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7226628" y="9243508"/>
            <a:ext cx="555046" cy="466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582"/>
              </a:lnSpc>
            </a:pPr>
            <a:r>
              <a:rPr lang="en-US" sz="3547" spc="-8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613431" y="4911058"/>
            <a:ext cx="4115436" cy="417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1"/>
              </a:lnSpc>
              <a:spcBef>
                <a:spcPct val="0"/>
              </a:spcBef>
            </a:pPr>
            <a:r>
              <a:rPr lang="en-US" b="true" sz="245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BIBLI</a:t>
            </a:r>
            <a:r>
              <a:rPr lang="en-US" b="true" sz="245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OTECA DE EXERCÍCIOS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625742" y="7782510"/>
            <a:ext cx="4163905" cy="417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1"/>
              </a:lnSpc>
              <a:spcBef>
                <a:spcPct val="0"/>
              </a:spcBef>
            </a:pPr>
            <a:r>
              <a:rPr lang="en-US" b="true" sz="245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AC</a:t>
            </a:r>
            <a:r>
              <a:rPr lang="en-US" b="true" sz="245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OMPANHAMENTO VISUAL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725193" y="7782510"/>
            <a:ext cx="4108915" cy="417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1"/>
              </a:lnSpc>
              <a:spcBef>
                <a:spcPct val="0"/>
              </a:spcBef>
            </a:pPr>
            <a:r>
              <a:rPr lang="en-US" b="true" sz="245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COMUNICAÇÃO FACILI</a:t>
            </a:r>
            <a:r>
              <a:rPr lang="en-US" b="true" sz="245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TADA​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725193" y="4911058"/>
            <a:ext cx="3395834" cy="417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1"/>
              </a:lnSpc>
              <a:spcBef>
                <a:spcPct val="0"/>
              </a:spcBef>
            </a:pPr>
            <a:r>
              <a:rPr lang="en-US" b="true" sz="245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G</a:t>
            </a:r>
            <a:r>
              <a:rPr lang="en-US" b="true" sz="245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ESTÃO DE PACIENTES​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649976" y="5367122"/>
            <a:ext cx="3949193" cy="647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0"/>
              </a:lnSpc>
              <a:spcBef>
                <a:spcPct val="0"/>
              </a:spcBef>
            </a:pPr>
            <a:r>
              <a:rPr lang="en-US" sz="1864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VÍDEOS E ORIENTAÇÕ</a:t>
            </a:r>
            <a:r>
              <a:rPr lang="en-US" sz="1864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ES TÉCNICAS VALIDADAS POR ESPECIALISTAS.​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830889" y="5367122"/>
            <a:ext cx="4006479" cy="971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0"/>
              </a:lnSpc>
              <a:spcBef>
                <a:spcPct val="0"/>
              </a:spcBef>
            </a:pPr>
            <a:r>
              <a:rPr lang="en-US" sz="1864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INTERFAC</a:t>
            </a:r>
            <a:r>
              <a:rPr lang="en-US" sz="1864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E INTUITIVA PARA SESSÕES E PLANOS DE TRATAMENTO PERSONALIZADOS.​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725193" y="8237870"/>
            <a:ext cx="3873604" cy="971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0"/>
              </a:lnSpc>
              <a:spcBef>
                <a:spcPct val="0"/>
              </a:spcBef>
            </a:pPr>
            <a:r>
              <a:rPr lang="en-US" sz="1864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FISIOTERAPEUTAS E PACI</a:t>
            </a:r>
            <a:r>
              <a:rPr lang="en-US" sz="1864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ENTES CONSEGUEM TROCAR MENSAGEM DE FORMA RÁPIDA E FÁCIL.​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649976" y="8237870"/>
            <a:ext cx="4101877" cy="647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0"/>
              </a:lnSpc>
              <a:spcBef>
                <a:spcPct val="0"/>
              </a:spcBef>
            </a:pPr>
            <a:r>
              <a:rPr lang="en-US" sz="1864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PACI</a:t>
            </a:r>
            <a:r>
              <a:rPr lang="en-US" sz="1864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ENTES VEEM PROGRESSO COM LEMBRETES PERSONALIZADOS.​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47750" y="795094"/>
            <a:ext cx="10775426" cy="1335208"/>
            <a:chOff x="0" y="0"/>
            <a:chExt cx="2719983" cy="3370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19983" cy="337039"/>
            </a:xfrm>
            <a:custGeom>
              <a:avLst/>
              <a:gdLst/>
              <a:ahLst/>
              <a:cxnLst/>
              <a:rect r="r" b="b" t="t" l="l"/>
              <a:pathLst>
                <a:path h="337039" w="2719983">
                  <a:moveTo>
                    <a:pt x="71848" y="0"/>
                  </a:moveTo>
                  <a:lnTo>
                    <a:pt x="2648135" y="0"/>
                  </a:lnTo>
                  <a:cubicBezTo>
                    <a:pt x="2667190" y="0"/>
                    <a:pt x="2685465" y="7570"/>
                    <a:pt x="2698939" y="21044"/>
                  </a:cubicBezTo>
                  <a:cubicBezTo>
                    <a:pt x="2712413" y="34518"/>
                    <a:pt x="2719983" y="52793"/>
                    <a:pt x="2719983" y="71848"/>
                  </a:cubicBezTo>
                  <a:lnTo>
                    <a:pt x="2719983" y="265191"/>
                  </a:lnTo>
                  <a:cubicBezTo>
                    <a:pt x="2719983" y="284247"/>
                    <a:pt x="2712413" y="302521"/>
                    <a:pt x="2698939" y="315995"/>
                  </a:cubicBezTo>
                  <a:cubicBezTo>
                    <a:pt x="2685465" y="329470"/>
                    <a:pt x="2667190" y="337039"/>
                    <a:pt x="2648135" y="337039"/>
                  </a:cubicBezTo>
                  <a:lnTo>
                    <a:pt x="71848" y="337039"/>
                  </a:lnTo>
                  <a:cubicBezTo>
                    <a:pt x="52793" y="337039"/>
                    <a:pt x="34518" y="329470"/>
                    <a:pt x="21044" y="315995"/>
                  </a:cubicBezTo>
                  <a:cubicBezTo>
                    <a:pt x="7570" y="302521"/>
                    <a:pt x="0" y="284247"/>
                    <a:pt x="0" y="265191"/>
                  </a:cubicBezTo>
                  <a:lnTo>
                    <a:pt x="0" y="71848"/>
                  </a:lnTo>
                  <a:cubicBezTo>
                    <a:pt x="0" y="52793"/>
                    <a:pt x="7570" y="34518"/>
                    <a:pt x="21044" y="21044"/>
                  </a:cubicBezTo>
                  <a:cubicBezTo>
                    <a:pt x="34518" y="7570"/>
                    <a:pt x="52793" y="0"/>
                    <a:pt x="7184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6E7DA2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2719983" cy="3179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506326" y="9875297"/>
            <a:ext cx="17275348" cy="0"/>
          </a:xfrm>
          <a:prstGeom prst="line">
            <a:avLst/>
          </a:prstGeom>
          <a:ln cap="flat" w="19050">
            <a:solidFill>
              <a:srgbClr val="6E7DA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506326" y="435753"/>
            <a:ext cx="17275348" cy="0"/>
          </a:xfrm>
          <a:prstGeom prst="line">
            <a:avLst/>
          </a:prstGeom>
          <a:ln cap="flat" w="19050">
            <a:solidFill>
              <a:srgbClr val="6E7DA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1083238" y="7118965"/>
            <a:ext cx="1508512" cy="906939"/>
            <a:chOff x="0" y="0"/>
            <a:chExt cx="675965" cy="406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75965" cy="406400"/>
            </a:xfrm>
            <a:custGeom>
              <a:avLst/>
              <a:gdLst/>
              <a:ahLst/>
              <a:cxnLst/>
              <a:rect r="r" b="b" t="t" l="l"/>
              <a:pathLst>
                <a:path h="406400" w="675965">
                  <a:moveTo>
                    <a:pt x="472765" y="0"/>
                  </a:moveTo>
                  <a:cubicBezTo>
                    <a:pt x="584989" y="0"/>
                    <a:pt x="675965" y="90976"/>
                    <a:pt x="675965" y="203200"/>
                  </a:cubicBezTo>
                  <a:cubicBezTo>
                    <a:pt x="675965" y="315424"/>
                    <a:pt x="584989" y="406400"/>
                    <a:pt x="472765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8A3A5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675965" cy="473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0"/>
                </a:lnSpc>
              </a:pPr>
              <a:r>
                <a:rPr lang="en-US" b="true" sz="2000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1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648718" y="7113454"/>
            <a:ext cx="1508512" cy="906939"/>
            <a:chOff x="0" y="0"/>
            <a:chExt cx="675965" cy="406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75965" cy="406400"/>
            </a:xfrm>
            <a:custGeom>
              <a:avLst/>
              <a:gdLst/>
              <a:ahLst/>
              <a:cxnLst/>
              <a:rect r="r" b="b" t="t" l="l"/>
              <a:pathLst>
                <a:path h="406400" w="675965">
                  <a:moveTo>
                    <a:pt x="472765" y="0"/>
                  </a:moveTo>
                  <a:cubicBezTo>
                    <a:pt x="584989" y="0"/>
                    <a:pt x="675965" y="90976"/>
                    <a:pt x="675965" y="203200"/>
                  </a:cubicBezTo>
                  <a:cubicBezTo>
                    <a:pt x="675965" y="315424"/>
                    <a:pt x="584989" y="406400"/>
                    <a:pt x="472765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8A3A5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66675"/>
              <a:ext cx="675965" cy="473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0"/>
                </a:lnSpc>
              </a:pPr>
              <a:r>
                <a:rPr lang="en-US" b="true" sz="2000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2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214630" y="7113454"/>
            <a:ext cx="1508512" cy="906939"/>
            <a:chOff x="0" y="0"/>
            <a:chExt cx="675965" cy="406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75965" cy="406400"/>
            </a:xfrm>
            <a:custGeom>
              <a:avLst/>
              <a:gdLst/>
              <a:ahLst/>
              <a:cxnLst/>
              <a:rect r="r" b="b" t="t" l="l"/>
              <a:pathLst>
                <a:path h="406400" w="675965">
                  <a:moveTo>
                    <a:pt x="472765" y="0"/>
                  </a:moveTo>
                  <a:cubicBezTo>
                    <a:pt x="584989" y="0"/>
                    <a:pt x="675965" y="90976"/>
                    <a:pt x="675965" y="203200"/>
                  </a:cubicBezTo>
                  <a:cubicBezTo>
                    <a:pt x="675965" y="315424"/>
                    <a:pt x="584989" y="406400"/>
                    <a:pt x="472765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8A3A5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675965" cy="473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0"/>
                </a:lnSpc>
              </a:pPr>
              <a:r>
                <a:rPr lang="en-US" b="true" sz="2000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3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5400000">
            <a:off x="10839424" y="2838278"/>
            <a:ext cx="9080203" cy="4663440"/>
            <a:chOff x="0" y="0"/>
            <a:chExt cx="791303" cy="406400"/>
          </a:xfrm>
        </p:grpSpPr>
        <p:sp>
          <p:nvSpPr>
            <p:cNvPr name="Freeform 17" id="17"/>
            <p:cNvSpPr/>
            <p:nvPr/>
          </p:nvSpPr>
          <p:spPr>
            <a:xfrm flipH="false" flipV="false" rot="-5400000">
              <a:off x="192452" y="-192452"/>
              <a:ext cx="406400" cy="791303"/>
            </a:xfrm>
            <a:custGeom>
              <a:avLst/>
              <a:gdLst/>
              <a:ahLst/>
              <a:cxnLst/>
              <a:rect r="r" b="b" t="t" l="l"/>
              <a:pathLst>
                <a:path h="791303" w="406400">
                  <a:moveTo>
                    <a:pt x="406400" y="588104"/>
                  </a:moveTo>
                  <a:cubicBezTo>
                    <a:pt x="406400" y="700333"/>
                    <a:pt x="315429" y="791304"/>
                    <a:pt x="203200" y="791304"/>
                  </a:cubicBezTo>
                  <a:cubicBezTo>
                    <a:pt x="90970" y="791304"/>
                    <a:pt x="0" y="700333"/>
                    <a:pt x="0" y="588104"/>
                  </a:cubicBezTo>
                  <a:lnTo>
                    <a:pt x="0" y="203200"/>
                  </a:lnTo>
                  <a:cubicBezTo>
                    <a:pt x="0" y="90971"/>
                    <a:pt x="90970" y="0"/>
                    <a:pt x="203200" y="0"/>
                  </a:cubicBezTo>
                  <a:cubicBezTo>
                    <a:pt x="315429" y="0"/>
                    <a:pt x="406400" y="90971"/>
                    <a:pt x="406400" y="203200"/>
                  </a:cubicBezTo>
                  <a:lnTo>
                    <a:pt x="406400" y="588104"/>
                  </a:lnTo>
                </a:path>
              </a:pathLst>
            </a:custGeom>
            <a:blipFill>
              <a:blip r:embed="rId2"/>
              <a:stretch>
                <a:fillRect l="-32512" t="-11560" r="-33031" b="-9826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334142" y="1162050"/>
            <a:ext cx="10489034" cy="734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451"/>
              </a:lnSpc>
            </a:pPr>
            <a:r>
              <a:rPr lang="en-US" b="true" sz="5738">
                <a:solidFill>
                  <a:srgbClr val="6E7DA2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ARQUITETURA TECNOLÓGICA​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84024" y="3128621"/>
            <a:ext cx="1754273" cy="322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60"/>
              </a:lnSpc>
            </a:pPr>
            <a:r>
              <a:rPr lang="en-US" b="true" sz="2000">
                <a:solidFill>
                  <a:srgbClr val="6E7DA2"/>
                </a:solidFill>
                <a:latin typeface="Inter Bold"/>
                <a:ea typeface="Inter Bold"/>
                <a:cs typeface="Inter Bold"/>
                <a:sym typeface="Inter Bold"/>
              </a:rPr>
              <a:t>FR</a:t>
            </a:r>
            <a:r>
              <a:rPr lang="en-US" b="true" sz="2000">
                <a:solidFill>
                  <a:srgbClr val="6E7DA2"/>
                </a:solidFill>
                <a:latin typeface="Inter Bold"/>
                <a:ea typeface="Inter Bold"/>
                <a:cs typeface="Inter Bold"/>
                <a:sym typeface="Inter Bold"/>
              </a:rPr>
              <a:t>ONTEND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808345" y="3128621"/>
            <a:ext cx="1754273" cy="322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60"/>
              </a:lnSpc>
            </a:pPr>
            <a:r>
              <a:rPr lang="en-US" b="true" sz="2000">
                <a:solidFill>
                  <a:srgbClr val="6E7DA2"/>
                </a:solidFill>
                <a:latin typeface="Inter Bold"/>
                <a:ea typeface="Inter Bold"/>
                <a:cs typeface="Inter Bold"/>
                <a:sym typeface="Inter Bold"/>
              </a:rPr>
              <a:t>BACKEND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84024" y="3522529"/>
            <a:ext cx="2815272" cy="2276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00"/>
              </a:lnSpc>
            </a:pPr>
            <a:r>
              <a:rPr lang="en-US" sz="2000">
                <a:solidFill>
                  <a:srgbClr val="6E7DA2"/>
                </a:solidFill>
                <a:latin typeface="Inter"/>
                <a:ea typeface="Inter"/>
                <a:cs typeface="Inter"/>
                <a:sym typeface="Inter"/>
              </a:rPr>
              <a:t>Flutter &amp; Dart​</a:t>
            </a:r>
          </a:p>
          <a:p>
            <a:pPr algn="just">
              <a:lnSpc>
                <a:spcPts val="3000"/>
              </a:lnSpc>
            </a:pPr>
          </a:p>
          <a:p>
            <a:pPr algn="just" marL="0" indent="0" lvl="0">
              <a:lnSpc>
                <a:spcPts val="3000"/>
              </a:lnSpc>
            </a:pPr>
            <a:r>
              <a:rPr lang="en-US" sz="2000">
                <a:solidFill>
                  <a:srgbClr val="6E7DA2"/>
                </a:solidFill>
                <a:latin typeface="Inter"/>
                <a:ea typeface="Inter"/>
                <a:cs typeface="Inter"/>
                <a:sym typeface="Inter"/>
              </a:rPr>
              <a:t>Base única para iOS e Android, garantindo experiência nativa e consistente.</a:t>
            </a:r>
            <a:r>
              <a:rPr lang="en-US" sz="2000">
                <a:solidFill>
                  <a:srgbClr val="6E7DA2"/>
                </a:solidFill>
                <a:latin typeface="Inter"/>
                <a:ea typeface="Inter"/>
                <a:cs typeface="Inter"/>
                <a:sym typeface="Inter"/>
              </a:rPr>
              <a:t>​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808345" y="3522529"/>
            <a:ext cx="3254236" cy="1895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00"/>
              </a:lnSpc>
            </a:pPr>
            <a:r>
              <a:rPr lang="en-US" sz="2000">
                <a:solidFill>
                  <a:srgbClr val="6E7DA2"/>
                </a:solidFill>
                <a:latin typeface="Inter"/>
                <a:ea typeface="Inter"/>
                <a:cs typeface="Inter"/>
                <a:sym typeface="Inter"/>
              </a:rPr>
              <a:t>Java 25 + Spring Boot 3.x​</a:t>
            </a:r>
          </a:p>
          <a:p>
            <a:pPr algn="just">
              <a:lnSpc>
                <a:spcPts val="3000"/>
              </a:lnSpc>
            </a:pPr>
          </a:p>
          <a:p>
            <a:pPr algn="just" marL="0" indent="0" lvl="0">
              <a:lnSpc>
                <a:spcPts val="3000"/>
              </a:lnSpc>
            </a:pPr>
            <a:r>
              <a:rPr lang="en-US" sz="2000">
                <a:solidFill>
                  <a:srgbClr val="6E7DA2"/>
                </a:solidFill>
                <a:latin typeface="Inter"/>
                <a:ea typeface="Inter"/>
                <a:cs typeface="Inter"/>
                <a:sym typeface="Inter"/>
              </a:rPr>
              <a:t>API robusta em Tomcat, processamento eficiente e escalável.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7226628" y="9243508"/>
            <a:ext cx="555046" cy="466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582"/>
              </a:lnSpc>
            </a:pPr>
            <a:r>
              <a:rPr lang="en-US" sz="3547" spc="-88">
                <a:solidFill>
                  <a:srgbClr val="6E7DA2"/>
                </a:solidFill>
                <a:latin typeface="Inter"/>
                <a:ea typeface="Inter"/>
                <a:cs typeface="Inter"/>
                <a:sym typeface="Inter"/>
              </a:rPr>
              <a:t>04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844781" y="3128621"/>
            <a:ext cx="1754273" cy="322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60"/>
              </a:lnSpc>
            </a:pPr>
            <a:r>
              <a:rPr lang="en-US" b="true" sz="2000">
                <a:solidFill>
                  <a:srgbClr val="6E7DA2"/>
                </a:solidFill>
                <a:latin typeface="Inter Bold"/>
                <a:ea typeface="Inter Bold"/>
                <a:cs typeface="Inter Bold"/>
                <a:sym typeface="Inter Bold"/>
              </a:rPr>
              <a:t>DADOS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754707" y="3522529"/>
            <a:ext cx="3597774" cy="1895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00"/>
              </a:lnSpc>
            </a:pPr>
            <a:r>
              <a:rPr lang="en-US" sz="2000">
                <a:solidFill>
                  <a:srgbClr val="6E7DA2"/>
                </a:solidFill>
                <a:latin typeface="Inter"/>
                <a:ea typeface="Inter"/>
                <a:cs typeface="Inter"/>
                <a:sym typeface="Inter"/>
              </a:rPr>
              <a:t>PostgreSQL</a:t>
            </a:r>
          </a:p>
          <a:p>
            <a:pPr algn="just">
              <a:lnSpc>
                <a:spcPts val="3000"/>
              </a:lnSpc>
            </a:pPr>
          </a:p>
          <a:p>
            <a:pPr algn="just" marL="0" indent="0" lvl="0">
              <a:lnSpc>
                <a:spcPts val="3000"/>
              </a:lnSpc>
            </a:pPr>
            <a:r>
              <a:rPr lang="en-US" sz="2000">
                <a:solidFill>
                  <a:srgbClr val="6E7DA2"/>
                </a:solidFill>
                <a:latin typeface="Inter"/>
                <a:ea typeface="Inter"/>
                <a:cs typeface="Inter"/>
                <a:sym typeface="Inter"/>
              </a:rPr>
              <a:t>Banco relacional com integridade ACID e segurança em transações.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64548" y="8092579"/>
            <a:ext cx="2473750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sz="2000">
                <a:solidFill>
                  <a:srgbClr val="6E7DA2"/>
                </a:solidFill>
                <a:latin typeface="Inter"/>
                <a:ea typeface="Inter"/>
                <a:cs typeface="Inter"/>
                <a:sym typeface="Inter"/>
              </a:rPr>
              <a:t>Pro</a:t>
            </a:r>
            <a:r>
              <a:rPr lang="en-US" sz="2000">
                <a:solidFill>
                  <a:srgbClr val="6E7DA2"/>
                </a:solidFill>
                <a:latin typeface="Inter"/>
                <a:ea typeface="Inter"/>
                <a:cs typeface="Inter"/>
                <a:sym typeface="Inter"/>
              </a:rPr>
              <a:t>totipagem com FlutterFlow​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015717" y="8092579"/>
            <a:ext cx="2774514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sz="2000">
                <a:solidFill>
                  <a:srgbClr val="6E7DA2"/>
                </a:solidFill>
                <a:latin typeface="Inter"/>
                <a:ea typeface="Inter"/>
                <a:cs typeface="Inter"/>
                <a:sym typeface="Inter"/>
              </a:rPr>
              <a:t>CI/CD</a:t>
            </a:r>
            <a:r>
              <a:rPr lang="en-US" sz="2000">
                <a:solidFill>
                  <a:srgbClr val="6E7DA2"/>
                </a:solidFill>
                <a:latin typeface="Inter"/>
                <a:ea typeface="Inter"/>
                <a:cs typeface="Inter"/>
                <a:sym typeface="Inter"/>
              </a:rPr>
              <a:t> via GitHub Actions​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062581" y="8087068"/>
            <a:ext cx="1828428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sz="2000">
                <a:solidFill>
                  <a:srgbClr val="6E7DA2"/>
                </a:solidFill>
                <a:latin typeface="Inter"/>
                <a:ea typeface="Inter"/>
                <a:cs typeface="Inter"/>
                <a:sym typeface="Inter"/>
              </a:rPr>
              <a:t>D</a:t>
            </a:r>
            <a:r>
              <a:rPr lang="en-US" sz="2000">
                <a:solidFill>
                  <a:srgbClr val="6E7DA2"/>
                </a:solidFill>
                <a:latin typeface="Inter"/>
                <a:ea typeface="Inter"/>
                <a:cs typeface="Inter"/>
                <a:sym typeface="Inter"/>
              </a:rPr>
              <a:t>eploy na AWS​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7BE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506326" y="9875297"/>
            <a:ext cx="17275348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506326" y="435753"/>
            <a:ext cx="17275348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506326" y="1028700"/>
            <a:ext cx="8096870" cy="1900943"/>
            <a:chOff x="0" y="0"/>
            <a:chExt cx="2043849" cy="47984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43849" cy="479845"/>
            </a:xfrm>
            <a:custGeom>
              <a:avLst/>
              <a:gdLst/>
              <a:ahLst/>
              <a:cxnLst/>
              <a:rect r="r" b="b" t="t" l="l"/>
              <a:pathLst>
                <a:path h="479845" w="2043849">
                  <a:moveTo>
                    <a:pt x="95616" y="0"/>
                  </a:moveTo>
                  <a:lnTo>
                    <a:pt x="1948233" y="0"/>
                  </a:lnTo>
                  <a:cubicBezTo>
                    <a:pt x="2001040" y="0"/>
                    <a:pt x="2043849" y="42809"/>
                    <a:pt x="2043849" y="95616"/>
                  </a:cubicBezTo>
                  <a:lnTo>
                    <a:pt x="2043849" y="384229"/>
                  </a:lnTo>
                  <a:cubicBezTo>
                    <a:pt x="2043849" y="437036"/>
                    <a:pt x="2001040" y="479845"/>
                    <a:pt x="1948233" y="479845"/>
                  </a:cubicBezTo>
                  <a:lnTo>
                    <a:pt x="95616" y="479845"/>
                  </a:lnTo>
                  <a:cubicBezTo>
                    <a:pt x="42809" y="479845"/>
                    <a:pt x="0" y="437036"/>
                    <a:pt x="0" y="384229"/>
                  </a:cubicBezTo>
                  <a:lnTo>
                    <a:pt x="0" y="95616"/>
                  </a:lnTo>
                  <a:cubicBezTo>
                    <a:pt x="0" y="42809"/>
                    <a:pt x="42809" y="0"/>
                    <a:pt x="9561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19050"/>
              <a:ext cx="2043849" cy="4607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06326" y="3910718"/>
            <a:ext cx="7918766" cy="4974416"/>
            <a:chOff x="0" y="0"/>
            <a:chExt cx="5731552" cy="36004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731552" cy="3600450"/>
            </a:xfrm>
            <a:custGeom>
              <a:avLst/>
              <a:gdLst/>
              <a:ahLst/>
              <a:cxnLst/>
              <a:rect r="r" b="b" t="t" l="l"/>
              <a:pathLst>
                <a:path h="3600450" w="5731552">
                  <a:moveTo>
                    <a:pt x="358987" y="0"/>
                  </a:moveTo>
                  <a:lnTo>
                    <a:pt x="4199889" y="0"/>
                  </a:lnTo>
                  <a:cubicBezTo>
                    <a:pt x="4428075" y="0"/>
                    <a:pt x="4645208" y="98265"/>
                    <a:pt x="4795815" y="269689"/>
                  </a:cubicBezTo>
                  <a:lnTo>
                    <a:pt x="5494614" y="1065081"/>
                  </a:lnTo>
                  <a:cubicBezTo>
                    <a:pt x="5647330" y="1238906"/>
                    <a:pt x="5731552" y="1462376"/>
                    <a:pt x="5731552" y="1693757"/>
                  </a:cubicBezTo>
                  <a:lnTo>
                    <a:pt x="5731552" y="3241463"/>
                  </a:lnTo>
                  <a:cubicBezTo>
                    <a:pt x="5731552" y="3439726"/>
                    <a:pt x="5570828" y="3600450"/>
                    <a:pt x="5372565" y="3600450"/>
                  </a:cubicBezTo>
                  <a:lnTo>
                    <a:pt x="358987" y="3600450"/>
                  </a:lnTo>
                  <a:cubicBezTo>
                    <a:pt x="160724" y="3600450"/>
                    <a:pt x="0" y="3439726"/>
                    <a:pt x="0" y="3241463"/>
                  </a:cubicBezTo>
                  <a:lnTo>
                    <a:pt x="0" y="358987"/>
                  </a:lnTo>
                  <a:cubicBezTo>
                    <a:pt x="0" y="160724"/>
                    <a:pt x="160724" y="0"/>
                    <a:pt x="358987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3030" r="0" b="-303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313295" y="3253508"/>
            <a:ext cx="1157138" cy="1889992"/>
            <a:chOff x="0" y="0"/>
            <a:chExt cx="381000" cy="6223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81000" cy="622300"/>
            </a:xfrm>
            <a:custGeom>
              <a:avLst/>
              <a:gdLst/>
              <a:ahLst/>
              <a:cxnLst/>
              <a:rect r="r" b="b" t="t" l="l"/>
              <a:pathLst>
                <a:path h="622300" w="381000">
                  <a:moveTo>
                    <a:pt x="381000" y="49530"/>
                  </a:moveTo>
                  <a:lnTo>
                    <a:pt x="381000" y="453390"/>
                  </a:lnTo>
                  <a:lnTo>
                    <a:pt x="190500" y="622300"/>
                  </a:lnTo>
                  <a:lnTo>
                    <a:pt x="0" y="453390"/>
                  </a:lnTo>
                  <a:lnTo>
                    <a:pt x="0" y="49530"/>
                  </a:lnTo>
                  <a:cubicBezTo>
                    <a:pt x="0" y="22860"/>
                    <a:pt x="22860" y="0"/>
                    <a:pt x="49530" y="0"/>
                  </a:cubicBezTo>
                  <a:lnTo>
                    <a:pt x="331470" y="0"/>
                  </a:lnTo>
                  <a:cubicBezTo>
                    <a:pt x="358140" y="0"/>
                    <a:pt x="381000" y="22860"/>
                    <a:pt x="381000" y="4953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381000" cy="5124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891864" y="5452930"/>
            <a:ext cx="1157138" cy="1889992"/>
            <a:chOff x="0" y="0"/>
            <a:chExt cx="381000" cy="6223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81000" cy="622300"/>
            </a:xfrm>
            <a:custGeom>
              <a:avLst/>
              <a:gdLst/>
              <a:ahLst/>
              <a:cxnLst/>
              <a:rect r="r" b="b" t="t" l="l"/>
              <a:pathLst>
                <a:path h="622300" w="381000">
                  <a:moveTo>
                    <a:pt x="381000" y="49530"/>
                  </a:moveTo>
                  <a:lnTo>
                    <a:pt x="381000" y="453390"/>
                  </a:lnTo>
                  <a:lnTo>
                    <a:pt x="190500" y="622300"/>
                  </a:lnTo>
                  <a:lnTo>
                    <a:pt x="0" y="453390"/>
                  </a:lnTo>
                  <a:lnTo>
                    <a:pt x="0" y="49530"/>
                  </a:lnTo>
                  <a:cubicBezTo>
                    <a:pt x="0" y="22860"/>
                    <a:pt x="22860" y="0"/>
                    <a:pt x="49530" y="0"/>
                  </a:cubicBezTo>
                  <a:lnTo>
                    <a:pt x="331470" y="0"/>
                  </a:lnTo>
                  <a:cubicBezTo>
                    <a:pt x="358140" y="0"/>
                    <a:pt x="381000" y="22860"/>
                    <a:pt x="381000" y="4953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381000" cy="5124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470433" y="7659351"/>
            <a:ext cx="1157138" cy="1889992"/>
            <a:chOff x="0" y="0"/>
            <a:chExt cx="381000" cy="6223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81000" cy="622300"/>
            </a:xfrm>
            <a:custGeom>
              <a:avLst/>
              <a:gdLst/>
              <a:ahLst/>
              <a:cxnLst/>
              <a:rect r="r" b="b" t="t" l="l"/>
              <a:pathLst>
                <a:path h="622300" w="381000">
                  <a:moveTo>
                    <a:pt x="381000" y="49530"/>
                  </a:moveTo>
                  <a:lnTo>
                    <a:pt x="381000" y="453390"/>
                  </a:lnTo>
                  <a:lnTo>
                    <a:pt x="190500" y="622300"/>
                  </a:lnTo>
                  <a:lnTo>
                    <a:pt x="0" y="453390"/>
                  </a:lnTo>
                  <a:lnTo>
                    <a:pt x="0" y="49530"/>
                  </a:lnTo>
                  <a:cubicBezTo>
                    <a:pt x="0" y="22860"/>
                    <a:pt x="22860" y="0"/>
                    <a:pt x="49530" y="0"/>
                  </a:cubicBezTo>
                  <a:lnTo>
                    <a:pt x="331470" y="0"/>
                  </a:lnTo>
                  <a:cubicBezTo>
                    <a:pt x="358140" y="0"/>
                    <a:pt x="381000" y="22860"/>
                    <a:pt x="381000" y="4953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66675"/>
              <a:ext cx="381000" cy="5124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0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008986" y="1335624"/>
            <a:ext cx="7091551" cy="1420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451"/>
              </a:lnSpc>
            </a:pPr>
            <a:r>
              <a:rPr lang="en-US" b="true" sz="5738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METODOLOGIA DE DESENVOLVIMENTO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7226628" y="9243508"/>
            <a:ext cx="555046" cy="466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582"/>
              </a:lnSpc>
            </a:pPr>
            <a:r>
              <a:rPr lang="en-US" sz="3547" spc="-8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05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650364" y="3186833"/>
            <a:ext cx="6461751" cy="113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RUP</a:t>
            </a:r>
          </a:p>
          <a:p>
            <a:pPr algn="l">
              <a:lnSpc>
                <a:spcPts val="3000"/>
              </a:lnSpc>
            </a:pPr>
          </a:p>
          <a:p>
            <a:pPr algn="l">
              <a:lnSpc>
                <a:spcPts val="30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Documentação estruturada e artefatos disciplinados.​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203558" y="5389754"/>
            <a:ext cx="6461751" cy="1514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Abordagem Híbrida​</a:t>
            </a:r>
          </a:p>
          <a:p>
            <a:pPr algn="l">
              <a:lnSpc>
                <a:spcPts val="3000"/>
              </a:lnSpc>
            </a:pPr>
          </a:p>
          <a:p>
            <a:pPr algn="l">
              <a:lnSpc>
                <a:spcPts val="30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Rig</a:t>
            </a:r>
            <a:r>
              <a:rPr lang="en-US" sz="2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or do processo unificado combinado com agilidade de sprints.​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826249" y="7592676"/>
            <a:ext cx="6213641" cy="1514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Ágil</a:t>
            </a:r>
          </a:p>
          <a:p>
            <a:pPr algn="l">
              <a:lnSpc>
                <a:spcPts val="3000"/>
              </a:lnSpc>
            </a:pPr>
          </a:p>
          <a:p>
            <a:pPr algn="l">
              <a:lnSpc>
                <a:spcPts val="30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Ite</a:t>
            </a:r>
            <a:r>
              <a:rPr lang="en-US" sz="2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rações frequentes, feedback contínuo e adaptação constante.​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506326" y="9875297"/>
            <a:ext cx="17275348" cy="0"/>
          </a:xfrm>
          <a:prstGeom prst="line">
            <a:avLst/>
          </a:prstGeom>
          <a:ln cap="flat" w="19050">
            <a:solidFill>
              <a:srgbClr val="6E7DA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506326" y="435753"/>
            <a:ext cx="17275348" cy="0"/>
          </a:xfrm>
          <a:prstGeom prst="line">
            <a:avLst/>
          </a:prstGeom>
          <a:ln cap="flat" w="19050">
            <a:solidFill>
              <a:srgbClr val="6E7DA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2255513" y="1028700"/>
            <a:ext cx="7629712" cy="1657173"/>
            <a:chOff x="0" y="0"/>
            <a:chExt cx="1925927" cy="41831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25927" cy="418311"/>
            </a:xfrm>
            <a:custGeom>
              <a:avLst/>
              <a:gdLst/>
              <a:ahLst/>
              <a:cxnLst/>
              <a:rect r="r" b="b" t="t" l="l"/>
              <a:pathLst>
                <a:path h="418311" w="1925927">
                  <a:moveTo>
                    <a:pt x="101471" y="0"/>
                  </a:moveTo>
                  <a:lnTo>
                    <a:pt x="1824456" y="0"/>
                  </a:lnTo>
                  <a:cubicBezTo>
                    <a:pt x="1880497" y="0"/>
                    <a:pt x="1925927" y="45430"/>
                    <a:pt x="1925927" y="101471"/>
                  </a:cubicBezTo>
                  <a:lnTo>
                    <a:pt x="1925927" y="316841"/>
                  </a:lnTo>
                  <a:cubicBezTo>
                    <a:pt x="1925927" y="372881"/>
                    <a:pt x="1880497" y="418311"/>
                    <a:pt x="1824456" y="418311"/>
                  </a:cubicBezTo>
                  <a:lnTo>
                    <a:pt x="101471" y="418311"/>
                  </a:lnTo>
                  <a:cubicBezTo>
                    <a:pt x="45430" y="418311"/>
                    <a:pt x="0" y="372881"/>
                    <a:pt x="0" y="316841"/>
                  </a:cubicBezTo>
                  <a:lnTo>
                    <a:pt x="0" y="101471"/>
                  </a:lnTo>
                  <a:cubicBezTo>
                    <a:pt x="0" y="45430"/>
                    <a:pt x="45430" y="0"/>
                    <a:pt x="10147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6E7DA2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19050"/>
              <a:ext cx="1925927" cy="3992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255513" y="3514285"/>
            <a:ext cx="9136176" cy="1349751"/>
            <a:chOff x="0" y="0"/>
            <a:chExt cx="1879872" cy="27772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79871" cy="277727"/>
            </a:xfrm>
            <a:custGeom>
              <a:avLst/>
              <a:gdLst/>
              <a:ahLst/>
              <a:cxnLst/>
              <a:rect r="r" b="b" t="t" l="l"/>
              <a:pathLst>
                <a:path h="277727" w="1879871">
                  <a:moveTo>
                    <a:pt x="16551" y="0"/>
                  </a:moveTo>
                  <a:lnTo>
                    <a:pt x="1863321" y="0"/>
                  </a:lnTo>
                  <a:cubicBezTo>
                    <a:pt x="1872461" y="0"/>
                    <a:pt x="1879871" y="7410"/>
                    <a:pt x="1879871" y="16551"/>
                  </a:cubicBezTo>
                  <a:lnTo>
                    <a:pt x="1879871" y="261176"/>
                  </a:lnTo>
                  <a:cubicBezTo>
                    <a:pt x="1879871" y="270317"/>
                    <a:pt x="1872461" y="277727"/>
                    <a:pt x="1863321" y="277727"/>
                  </a:cubicBezTo>
                  <a:lnTo>
                    <a:pt x="16551" y="277727"/>
                  </a:lnTo>
                  <a:cubicBezTo>
                    <a:pt x="7410" y="277727"/>
                    <a:pt x="0" y="270317"/>
                    <a:pt x="0" y="261176"/>
                  </a:cubicBezTo>
                  <a:lnTo>
                    <a:pt x="0" y="16551"/>
                  </a:lnTo>
                  <a:cubicBezTo>
                    <a:pt x="0" y="7410"/>
                    <a:pt x="7410" y="0"/>
                    <a:pt x="16551" y="0"/>
                  </a:cubicBezTo>
                  <a:close/>
                </a:path>
              </a:pathLst>
            </a:custGeom>
            <a:solidFill>
              <a:srgbClr val="38A3A5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1879872" cy="3444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0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7226628" y="9243508"/>
            <a:ext cx="555046" cy="466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582"/>
              </a:lnSpc>
            </a:pPr>
            <a:r>
              <a:rPr lang="en-US" sz="3547" spc="-88">
                <a:solidFill>
                  <a:srgbClr val="6E7DA2"/>
                </a:solidFill>
                <a:latin typeface="Inter"/>
                <a:ea typeface="Inter"/>
                <a:cs typeface="Inter"/>
                <a:sym typeface="Inter"/>
              </a:rPr>
              <a:t>06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739332" y="1265427"/>
            <a:ext cx="6627909" cy="1420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451"/>
              </a:lnSpc>
            </a:pPr>
            <a:r>
              <a:rPr lang="en-US" b="true" sz="5738">
                <a:solidFill>
                  <a:srgbClr val="6E7DA2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CONCLUSÃO E PRÓXIMOS PASSOS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389111" y="3589085"/>
            <a:ext cx="9002578" cy="113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Vi</a:t>
            </a:r>
            <a:r>
              <a:rPr lang="en-US" b="true" sz="200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são</a:t>
            </a:r>
          </a:p>
          <a:p>
            <a:pPr algn="l">
              <a:lnSpc>
                <a:spcPts val="3000"/>
              </a:lnSpc>
              <a:spcBef>
                <a:spcPct val="0"/>
              </a:spcBef>
            </a:pPr>
          </a:p>
          <a:p>
            <a:pPr algn="l">
              <a:lnSpc>
                <a:spcPts val="30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Ponte entre tecnologia e cuidado humanizado na reabilitação.​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2739332" y="5143500"/>
            <a:ext cx="9136176" cy="1349751"/>
            <a:chOff x="0" y="0"/>
            <a:chExt cx="1879872" cy="27772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879871" cy="277727"/>
            </a:xfrm>
            <a:custGeom>
              <a:avLst/>
              <a:gdLst/>
              <a:ahLst/>
              <a:cxnLst/>
              <a:rect r="r" b="b" t="t" l="l"/>
              <a:pathLst>
                <a:path h="277727" w="1879871">
                  <a:moveTo>
                    <a:pt x="16551" y="0"/>
                  </a:moveTo>
                  <a:lnTo>
                    <a:pt x="1863321" y="0"/>
                  </a:lnTo>
                  <a:cubicBezTo>
                    <a:pt x="1872461" y="0"/>
                    <a:pt x="1879871" y="7410"/>
                    <a:pt x="1879871" y="16551"/>
                  </a:cubicBezTo>
                  <a:lnTo>
                    <a:pt x="1879871" y="261176"/>
                  </a:lnTo>
                  <a:cubicBezTo>
                    <a:pt x="1879871" y="270317"/>
                    <a:pt x="1872461" y="277727"/>
                    <a:pt x="1863321" y="277727"/>
                  </a:cubicBezTo>
                  <a:lnTo>
                    <a:pt x="16551" y="277727"/>
                  </a:lnTo>
                  <a:cubicBezTo>
                    <a:pt x="7410" y="277727"/>
                    <a:pt x="0" y="270317"/>
                    <a:pt x="0" y="261176"/>
                  </a:cubicBezTo>
                  <a:lnTo>
                    <a:pt x="0" y="16551"/>
                  </a:lnTo>
                  <a:cubicBezTo>
                    <a:pt x="0" y="7410"/>
                    <a:pt x="7410" y="0"/>
                    <a:pt x="16551" y="0"/>
                  </a:cubicBezTo>
                  <a:close/>
                </a:path>
              </a:pathLst>
            </a:custGeom>
            <a:solidFill>
              <a:srgbClr val="38A3A5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1879872" cy="3444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0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2872929" y="5218301"/>
            <a:ext cx="9002578" cy="113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Impact</a:t>
            </a:r>
            <a:r>
              <a:rPr lang="en-US" b="true" sz="200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o​</a:t>
            </a:r>
          </a:p>
          <a:p>
            <a:pPr algn="l">
              <a:lnSpc>
                <a:spcPts val="3000"/>
              </a:lnSpc>
              <a:spcBef>
                <a:spcPct val="0"/>
              </a:spcBef>
            </a:pPr>
          </a:p>
          <a:p>
            <a:pPr algn="l">
              <a:lnSpc>
                <a:spcPts val="30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Maior adesão, melhores resultados, maior poder de gestão.​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3236828" y="6769476"/>
            <a:ext cx="9136176" cy="1349751"/>
            <a:chOff x="0" y="0"/>
            <a:chExt cx="1879872" cy="27772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879871" cy="277727"/>
            </a:xfrm>
            <a:custGeom>
              <a:avLst/>
              <a:gdLst/>
              <a:ahLst/>
              <a:cxnLst/>
              <a:rect r="r" b="b" t="t" l="l"/>
              <a:pathLst>
                <a:path h="277727" w="1879871">
                  <a:moveTo>
                    <a:pt x="16551" y="0"/>
                  </a:moveTo>
                  <a:lnTo>
                    <a:pt x="1863321" y="0"/>
                  </a:lnTo>
                  <a:cubicBezTo>
                    <a:pt x="1872461" y="0"/>
                    <a:pt x="1879871" y="7410"/>
                    <a:pt x="1879871" y="16551"/>
                  </a:cubicBezTo>
                  <a:lnTo>
                    <a:pt x="1879871" y="261176"/>
                  </a:lnTo>
                  <a:cubicBezTo>
                    <a:pt x="1879871" y="270317"/>
                    <a:pt x="1872461" y="277727"/>
                    <a:pt x="1863321" y="277727"/>
                  </a:cubicBezTo>
                  <a:lnTo>
                    <a:pt x="16551" y="277727"/>
                  </a:lnTo>
                  <a:cubicBezTo>
                    <a:pt x="7410" y="277727"/>
                    <a:pt x="0" y="270317"/>
                    <a:pt x="0" y="261176"/>
                  </a:cubicBezTo>
                  <a:lnTo>
                    <a:pt x="0" y="16551"/>
                  </a:lnTo>
                  <a:cubicBezTo>
                    <a:pt x="0" y="7410"/>
                    <a:pt x="7410" y="0"/>
                    <a:pt x="16551" y="0"/>
                  </a:cubicBezTo>
                  <a:close/>
                </a:path>
              </a:pathLst>
            </a:custGeom>
            <a:solidFill>
              <a:srgbClr val="38A3A5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1879872" cy="3444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0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3370426" y="6844277"/>
            <a:ext cx="9002578" cy="113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Aç</a:t>
            </a:r>
            <a:r>
              <a:rPr lang="en-US" b="true" sz="200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ão</a:t>
            </a:r>
          </a:p>
          <a:p>
            <a:pPr algn="l">
              <a:lnSpc>
                <a:spcPts val="3000"/>
              </a:lnSpc>
              <a:spcBef>
                <a:spcPct val="0"/>
              </a:spcBef>
            </a:pPr>
          </a:p>
          <a:p>
            <a:pPr algn="l">
              <a:lnSpc>
                <a:spcPts val="30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Desenvolvimento, testes com usuários reais e aprimoramento contínuo.​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7BE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506326" y="9875297"/>
            <a:ext cx="17275348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506326" y="435753"/>
            <a:ext cx="17275348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7576634" y="6123567"/>
            <a:ext cx="3134733" cy="3134733"/>
          </a:xfrm>
          <a:custGeom>
            <a:avLst/>
            <a:gdLst/>
            <a:ahLst/>
            <a:cxnLst/>
            <a:rect r="r" b="b" t="t" l="l"/>
            <a:pathLst>
              <a:path h="3134733" w="3134733">
                <a:moveTo>
                  <a:pt x="0" y="0"/>
                </a:moveTo>
                <a:lnTo>
                  <a:pt x="3134732" y="0"/>
                </a:lnTo>
                <a:lnTo>
                  <a:pt x="3134732" y="3134733"/>
                </a:lnTo>
                <a:lnTo>
                  <a:pt x="0" y="31347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219200"/>
            <a:ext cx="7905885" cy="1074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20"/>
              </a:lnSpc>
            </a:pPr>
            <a:r>
              <a:rPr lang="en-US" b="true" sz="8337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OBRIGADO!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620810"/>
            <a:ext cx="7905885" cy="1514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Agrad</a:t>
            </a:r>
            <a:r>
              <a:rPr lang="en-US" sz="2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ecemos sua atenção e interesse no PhysioApp.​</a:t>
            </a:r>
          </a:p>
          <a:p>
            <a:pPr algn="l">
              <a:lnSpc>
                <a:spcPts val="3000"/>
              </a:lnSpc>
              <a:spcBef>
                <a:spcPct val="0"/>
              </a:spcBef>
            </a:pPr>
          </a:p>
          <a:p>
            <a:pPr algn="l">
              <a:lnSpc>
                <a:spcPts val="30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Para explorar o PhysioApp e ver a nossa solução em ação, escaneie o QR Code abaixo:​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DAG6SOGDD2o</dc:identifier>
  <dcterms:modified xsi:type="dcterms:W3CDTF">2011-08-01T06:04:30Z</dcterms:modified>
  <cp:revision>1</cp:revision>
  <dc:title>Projeto final de curso</dc:title>
</cp:coreProperties>
</file>